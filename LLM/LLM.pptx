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8DDF24-F5FD-F121-736E-1B7D22D469A9}" v="163" dt="2025-11-18T03:03:13.8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76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678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33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66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15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17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536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681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141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80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6095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304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83" r:id="rId6"/>
    <p:sldLayoutId id="2147483679" r:id="rId7"/>
    <p:sldLayoutId id="2147483680" r:id="rId8"/>
    <p:sldLayoutId id="2147483681" r:id="rId9"/>
    <p:sldLayoutId id="2147483682" r:id="rId10"/>
    <p:sldLayoutId id="2147483684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ibm.com/topics/machine-learning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7" name="Picture 6" descr="Hand reaching out to light">
            <a:extLst>
              <a:ext uri="{FF2B5EF4-FFF2-40B4-BE49-F238E27FC236}">
                <a16:creationId xmlns:a16="http://schemas.microsoft.com/office/drawing/2014/main" id="{9C07209F-F671-D1FC-2BE9-59FB5C3EB7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83" r="9085" b="11788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5" y="701964"/>
            <a:ext cx="5370950" cy="364030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From Theory to Magic: Advanced LLM Secrets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pyramid&#10;&#10;AI-generated content may be incorrect.">
            <a:extLst>
              <a:ext uri="{FF2B5EF4-FFF2-40B4-BE49-F238E27FC236}">
                <a16:creationId xmlns:a16="http://schemas.microsoft.com/office/drawing/2014/main" id="{C1D01C3A-37A9-458E-9A26-0D92456BB9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61" b="4202"/>
          <a:stretch>
            <a:fillRect/>
          </a:stretch>
        </p:blipFill>
        <p:spPr>
          <a:xfrm>
            <a:off x="5915" y="0"/>
            <a:ext cx="11748862" cy="68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39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76F3CF-070F-19AE-7D8F-3D83F874C2AC}"/>
              </a:ext>
            </a:extLst>
          </p:cNvPr>
          <p:cNvSpPr txBox="1"/>
          <p:nvPr/>
        </p:nvSpPr>
        <p:spPr>
          <a:xfrm>
            <a:off x="3252" y="1275991"/>
            <a:ext cx="5873381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3200" b="1" dirty="0">
                <a:solidFill>
                  <a:srgbClr val="161616"/>
                </a:solidFill>
                <a:latin typeface="Times New Roman"/>
                <a:cs typeface="Times New Roman"/>
              </a:rPr>
              <a:t>Reinforcement learning from human feedback (RLHF)</a:t>
            </a:r>
            <a:r>
              <a:rPr lang="en-US" sz="3200" dirty="0">
                <a:solidFill>
                  <a:srgbClr val="161616"/>
                </a:solidFill>
                <a:latin typeface="Times New Roman"/>
                <a:cs typeface="Times New Roman"/>
              </a:rPr>
              <a:t> is a </a:t>
            </a:r>
            <a:r>
              <a:rPr lang="en-US" sz="3200" dirty="0">
                <a:solidFill>
                  <a:srgbClr val="0F62FE"/>
                </a:solidFill>
                <a:latin typeface="Times New Roman"/>
                <a:cs typeface="Times New Roman"/>
                <a:hlinkClick r:id="rId2"/>
              </a:rPr>
              <a:t>machine learning</a:t>
            </a:r>
            <a:r>
              <a:rPr lang="en-US" sz="3200" dirty="0">
                <a:solidFill>
                  <a:srgbClr val="161616"/>
                </a:solidFill>
                <a:latin typeface="Times New Roman"/>
                <a:cs typeface="Times New Roman"/>
              </a:rPr>
              <a:t> technique in which a “</a:t>
            </a:r>
            <a:r>
              <a:rPr lang="en-US" sz="3200" b="1" dirty="0">
                <a:solidFill>
                  <a:srgbClr val="161616"/>
                </a:solidFill>
                <a:latin typeface="Times New Roman"/>
                <a:cs typeface="Times New Roman"/>
              </a:rPr>
              <a:t>reward model</a:t>
            </a:r>
            <a:r>
              <a:rPr lang="en-US" sz="3200" dirty="0">
                <a:solidFill>
                  <a:srgbClr val="161616"/>
                </a:solidFill>
                <a:latin typeface="Times New Roman"/>
                <a:cs typeface="Times New Roman"/>
              </a:rPr>
              <a:t>” is t</a:t>
            </a:r>
            <a:r>
              <a:rPr lang="en-US" sz="3200" b="1" dirty="0">
                <a:solidFill>
                  <a:srgbClr val="161616"/>
                </a:solidFill>
                <a:latin typeface="Times New Roman"/>
                <a:cs typeface="Times New Roman"/>
              </a:rPr>
              <a:t>rained with direct human feedback</a:t>
            </a:r>
            <a:r>
              <a:rPr lang="en-US" sz="3200" dirty="0">
                <a:solidFill>
                  <a:srgbClr val="161616"/>
                </a:solidFill>
                <a:latin typeface="Times New Roman"/>
                <a:cs typeface="Times New Roman"/>
              </a:rPr>
              <a:t>, then used to </a:t>
            </a:r>
            <a:r>
              <a:rPr lang="en-US" sz="3200" b="1" dirty="0">
                <a:solidFill>
                  <a:srgbClr val="161616"/>
                </a:solidFill>
                <a:latin typeface="Times New Roman"/>
                <a:cs typeface="Times New Roman"/>
              </a:rPr>
              <a:t>optimize the performance</a:t>
            </a:r>
            <a:r>
              <a:rPr lang="en-US" sz="3200" dirty="0">
                <a:solidFill>
                  <a:srgbClr val="161616"/>
                </a:solidFill>
                <a:latin typeface="Times New Roman"/>
                <a:cs typeface="Times New Roman"/>
              </a:rPr>
              <a:t> of an artificial intelligence agent </a:t>
            </a:r>
            <a:r>
              <a:rPr lang="en-US" sz="3200" b="1" dirty="0">
                <a:solidFill>
                  <a:srgbClr val="161616"/>
                </a:solidFill>
                <a:latin typeface="Times New Roman"/>
                <a:cs typeface="Times New Roman"/>
              </a:rPr>
              <a:t>through reinforcement learning</a:t>
            </a:r>
            <a:r>
              <a:rPr lang="en-US" sz="3200" dirty="0">
                <a:solidFill>
                  <a:srgbClr val="161616"/>
                </a:solidFill>
                <a:latin typeface="Times New Roman"/>
                <a:cs typeface="Times New Roman"/>
              </a:rPr>
              <a:t>.</a:t>
            </a:r>
            <a:endParaRPr lang="en-US" sz="3200" dirty="0">
              <a:latin typeface="Times New Roman"/>
              <a:cs typeface="Times New Roman"/>
            </a:endParaRPr>
          </a:p>
        </p:txBody>
      </p:sp>
      <p:pic>
        <p:nvPicPr>
          <p:cNvPr id="4" name="Picture 3" descr="A question mark with text on it&#10;&#10;AI-generated content may be incorrect.">
            <a:extLst>
              <a:ext uri="{FF2B5EF4-FFF2-40B4-BE49-F238E27FC236}">
                <a16:creationId xmlns:a16="http://schemas.microsoft.com/office/drawing/2014/main" id="{44CE016F-9AC7-A34D-DFAD-B16625F2F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183" y="-1"/>
            <a:ext cx="58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676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6EA891-6867-FAAB-090E-FF6AE9CE4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902" y="1316468"/>
            <a:ext cx="5664102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dirty="0"/>
              <a:t> </a:t>
            </a:r>
            <a:br>
              <a:rPr lang="en-US" sz="3700" dirty="0"/>
            </a:br>
            <a:r>
              <a:rPr lang="en-US" sz="3700" dirty="0"/>
              <a:t>AI HALLUCINATIONS</a:t>
            </a:r>
          </a:p>
          <a:p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9C58B3DF-8481-F35A-3064-D4539E6225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557" r="-203"/>
          <a:stretch>
            <a:fillRect/>
          </a:stretch>
        </p:blipFill>
        <p:spPr>
          <a:xfrm>
            <a:off x="4702776" y="960137"/>
            <a:ext cx="7101007" cy="376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901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819817-4039-4494-68EE-3ACE18DA9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679" y="0"/>
            <a:ext cx="9997056" cy="728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667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9B00CCFA-E3FD-1DA0-4B35-21457D704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158" y="9705"/>
            <a:ext cx="10249798" cy="6852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816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90D589ED-361D-4C68-1AF6-A8F9D4C66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912" y="409396"/>
            <a:ext cx="10422326" cy="645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05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AAF17B5C-A741-AB7D-821D-50E130A74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6" y="9346"/>
            <a:ext cx="12173308" cy="732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57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hat&#10;&#10;AI-generated content may be incorrect.">
            <a:extLst>
              <a:ext uri="{FF2B5EF4-FFF2-40B4-BE49-F238E27FC236}">
                <a16:creationId xmlns:a16="http://schemas.microsoft.com/office/drawing/2014/main" id="{815C09E8-780A-2F96-4F9B-1D95DD711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369" y="12761"/>
            <a:ext cx="10545791" cy="684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329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hat bubbles with text&#10;&#10;AI-generated content may be incorrect.">
            <a:extLst>
              <a:ext uri="{FF2B5EF4-FFF2-40B4-BE49-F238E27FC236}">
                <a16:creationId xmlns:a16="http://schemas.microsoft.com/office/drawing/2014/main" id="{89A51EF6-9982-047F-7256-F11B2A811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753" y="0"/>
            <a:ext cx="92707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947971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DashVTI</vt:lpstr>
      <vt:lpstr>From Theory to Magic: Advanced LLM Secrets</vt:lpstr>
      <vt:lpstr>PowerPoint Presentation</vt:lpstr>
      <vt:lpstr>PowerPoint Presentation</vt:lpstr>
      <vt:lpstr>  AI HALLUCINATIONS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113</cp:revision>
  <dcterms:created xsi:type="dcterms:W3CDTF">2025-11-18T01:31:05Z</dcterms:created>
  <dcterms:modified xsi:type="dcterms:W3CDTF">2025-11-18T05:49:21Z</dcterms:modified>
</cp:coreProperties>
</file>