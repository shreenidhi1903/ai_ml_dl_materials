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2C00A1-33E9-394E-C29B-24E0977BCA79}" v="15" dt="2025-12-01T15:23:04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615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09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76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132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12/1/2025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4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11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162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66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57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40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827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12/1/2025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28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48" r:id="rId6"/>
    <p:sldLayoutId id="2147483744" r:id="rId7"/>
    <p:sldLayoutId id="2147483745" r:id="rId8"/>
    <p:sldLayoutId id="2147483746" r:id="rId9"/>
    <p:sldLayoutId id="2147483747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F08B06E-41A3-155D-D6A5-367BF48D62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226" r="-9" b="-9"/>
          <a:stretch>
            <a:fillRect/>
          </a:stretch>
        </p:blipFill>
        <p:spPr>
          <a:xfrm>
            <a:off x="3331593" y="10"/>
            <a:ext cx="8860407" cy="6857990"/>
          </a:xfrm>
          <a:custGeom>
            <a:avLst/>
            <a:gdLst/>
            <a:ahLst/>
            <a:cxnLst/>
            <a:rect l="l" t="t" r="r" b="b"/>
            <a:pathLst>
              <a:path w="8860407" h="6858000">
                <a:moveTo>
                  <a:pt x="0" y="0"/>
                </a:moveTo>
                <a:lnTo>
                  <a:pt x="8860407" y="0"/>
                </a:lnTo>
                <a:lnTo>
                  <a:pt x="8860407" y="6858000"/>
                </a:lnTo>
                <a:lnTo>
                  <a:pt x="661049" y="6858000"/>
                </a:lnTo>
                <a:lnTo>
                  <a:pt x="832672" y="6662026"/>
                </a:lnTo>
                <a:cubicBezTo>
                  <a:pt x="1465328" y="5866432"/>
                  <a:pt x="1845374" y="4846462"/>
                  <a:pt x="1845374" y="3734370"/>
                </a:cubicBezTo>
                <a:cubicBezTo>
                  <a:pt x="1845374" y="2244963"/>
                  <a:pt x="1163691" y="920792"/>
                  <a:pt x="106458" y="79568"/>
                </a:cubicBez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122" y="2365263"/>
            <a:ext cx="4353060" cy="2120215"/>
          </a:xfr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n-US"/>
            </a:defPPr>
            <a:lvl1pPr marL="0" algn="l" defTabSz="777514" rtl="0" eaLnBrk="1" latinLnBrk="0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8757" algn="l" defTabSz="777514" rtl="0" eaLnBrk="1" latinLnBrk="0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514" algn="l" defTabSz="777514" rtl="0" eaLnBrk="1" latinLnBrk="0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6271" algn="l" defTabSz="777514" rtl="0" eaLnBrk="1" latinLnBrk="0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5029" algn="l" defTabSz="777514" rtl="0" eaLnBrk="1" latinLnBrk="0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43786" algn="l" defTabSz="777514" rtl="0" eaLnBrk="1" latinLnBrk="0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2543" algn="l" defTabSz="777514" rtl="0" eaLnBrk="1" latinLnBrk="0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1300" algn="l" defTabSz="777514" rtl="0" eaLnBrk="1" latinLnBrk="0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10057" algn="l" defTabSz="777514" rtl="0" eaLnBrk="1" latinLnBrk="0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sz="5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ARTIFICIAL INTELLIGENCE (AI)</a:t>
            </a:r>
            <a:endParaRPr lang="en-US" sz="50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4739F3-4560-D4C1-41CE-9A646DC6A28F}"/>
              </a:ext>
            </a:extLst>
          </p:cNvPr>
          <p:cNvSpPr txBox="1"/>
          <p:nvPr/>
        </p:nvSpPr>
        <p:spPr>
          <a:xfrm>
            <a:off x="8324" y="5297"/>
            <a:ext cx="1168235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latin typeface="Times New Roman"/>
                <a:ea typeface="+mn-lt"/>
                <a:cs typeface="Times New Roman"/>
              </a:rPr>
              <a:t>AI = Machines + Data + Learning → Decisions like humans</a:t>
            </a:r>
            <a:endParaRPr lang="en-US" sz="3200" b="1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35380-AEDB-31B2-5C39-F7008A5DE587}"/>
              </a:ext>
            </a:extLst>
          </p:cNvPr>
          <p:cNvSpPr txBox="1"/>
          <p:nvPr/>
        </p:nvSpPr>
        <p:spPr>
          <a:xfrm>
            <a:off x="320841" y="982578"/>
            <a:ext cx="5776671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latin typeface="Times New Roman"/>
                <a:ea typeface="+mn-lt"/>
                <a:cs typeface="Times New Roman"/>
              </a:rPr>
              <a:t>Artificial Intelligence is like giving a computer a brain – not a human brain,  but one that can learn from experience, solve problems, and make decisions. </a:t>
            </a:r>
          </a:p>
          <a:p>
            <a:pPr algn="just"/>
            <a:r>
              <a:rPr lang="en-US" sz="2400" b="1" dirty="0">
                <a:latin typeface="Times New Roman"/>
                <a:ea typeface="+mn-lt"/>
                <a:cs typeface="Times New Roman"/>
              </a:rPr>
              <a:t>It’s teaching machines to think a little like us, so they can help us in smarter </a:t>
            </a:r>
          </a:p>
          <a:p>
            <a:pPr algn="just"/>
            <a:r>
              <a:rPr lang="en-US" sz="2400" b="1" dirty="0">
                <a:latin typeface="Times New Roman"/>
                <a:ea typeface="+mn-lt"/>
                <a:cs typeface="Times New Roman"/>
              </a:rPr>
              <a:t>and faster ways.</a:t>
            </a:r>
            <a:endParaRPr lang="en-US" sz="2400" b="1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7E2032-D7ED-CD52-B38B-D6C29FC18A0E}"/>
              </a:ext>
            </a:extLst>
          </p:cNvPr>
          <p:cNvSpPr txBox="1"/>
          <p:nvPr/>
        </p:nvSpPr>
        <p:spPr>
          <a:xfrm>
            <a:off x="326517" y="4260238"/>
            <a:ext cx="5777051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>
                <a:latin typeface="Times New Roman"/>
                <a:ea typeface="+mn-lt"/>
                <a:cs typeface="Times New Roman"/>
              </a:rPr>
              <a:t>AI is an interdisciplinary science with many approaches; it can be 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rule-based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and operate under a 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predefined set of conditions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, or it can use 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machine learning algorithms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to adapt to its environment. </a:t>
            </a:r>
            <a:endParaRPr lang="en-US" sz="2400">
              <a:latin typeface="Times New Roman"/>
              <a:ea typeface="+mn-lt"/>
              <a:cs typeface="Times New Roman"/>
            </a:endParaRPr>
          </a:p>
        </p:txBody>
      </p:sp>
      <p:pic>
        <p:nvPicPr>
          <p:cNvPr id="6" name="Picture 5" descr="AI in relation to data science and other key concepts">
            <a:extLst>
              <a:ext uri="{FF2B5EF4-FFF2-40B4-BE49-F238E27FC236}">
                <a16:creationId xmlns:a16="http://schemas.microsoft.com/office/drawing/2014/main" id="{0BC9E1E3-2970-DFC1-2EA1-A25297873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627" y="633876"/>
            <a:ext cx="5992481" cy="622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541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B9D9A-B2DD-0678-0098-A3D0C22D5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744" y="289197"/>
            <a:ext cx="3526828" cy="18072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i="1" kern="1200" spc="1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How does AI work?</a:t>
            </a:r>
          </a:p>
          <a:p>
            <a:endParaRPr lang="en-US" sz="4800" i="1" kern="1200" spc="100" baseline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8D0C3BE6-4325-DC7F-0126-2F9F837BE2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86" b="6506"/>
          <a:stretch>
            <a:fillRect/>
          </a:stretch>
        </p:blipFill>
        <p:spPr>
          <a:xfrm>
            <a:off x="279638" y="293779"/>
            <a:ext cx="6886626" cy="589618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A0812C-8DCE-4CA2-904B-A5A5C12CA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2660" y="1005840"/>
            <a:ext cx="0" cy="58521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FB78D7A-8FE1-6A93-DB41-C7E8DA92F439}"/>
              </a:ext>
            </a:extLst>
          </p:cNvPr>
          <p:cNvSpPr txBox="1"/>
          <p:nvPr/>
        </p:nvSpPr>
        <p:spPr>
          <a:xfrm>
            <a:off x="7888666" y="2623930"/>
            <a:ext cx="4101921" cy="31581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18288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cs typeface="Times New Roman"/>
              </a:rPr>
              <a:t>AI works by watching, learning, and practicing, just like a child learning to ride a bicycle—falling, trying again, and eventually riding smoothly.</a:t>
            </a:r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36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FCC6E86-7C37-4FD2-AF0B-C9BDDBC2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-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10C836-80EB-AF3B-567B-C59731F79F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182" b="6485"/>
          <a:stretch>
            <a:fillRect/>
          </a:stretch>
        </p:blipFill>
        <p:spPr>
          <a:xfrm>
            <a:off x="-1" y="1"/>
            <a:ext cx="12191998" cy="6857999"/>
          </a:xfrm>
          <a:prstGeom prst="rect">
            <a:avLst/>
          </a:prstGeom>
        </p:spPr>
      </p:pic>
      <p:sp>
        <p:nvSpPr>
          <p:cNvPr id="13" name="Freeform 6">
            <a:extLst>
              <a:ext uri="{FF2B5EF4-FFF2-40B4-BE49-F238E27FC236}">
                <a16:creationId xmlns:a16="http://schemas.microsoft.com/office/drawing/2014/main" id="{38C2FC07-A260-43C5-ABA2-A9DD5D5A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512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diagram&#10;&#10;AI-generated content may be incorrect.">
            <a:extLst>
              <a:ext uri="{FF2B5EF4-FFF2-40B4-BE49-F238E27FC236}">
                <a16:creationId xmlns:a16="http://schemas.microsoft.com/office/drawing/2014/main" id="{1D0632F1-B0E3-95D8-CCEF-678BE72DE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44" y="0"/>
            <a:ext cx="116790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2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AF9319C-2D9B-4868-AEAE-37298EA0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EB9C80-24B4-A07F-7FBA-69E167338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128811"/>
            <a:ext cx="3447288" cy="33422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b="1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Deterministic System vs Probabilistic System</a:t>
            </a:r>
          </a:p>
        </p:txBody>
      </p:sp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7A355359-1992-0765-51FB-E2BEC2DC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8" t="12605" r="230" b="-210"/>
          <a:stretch>
            <a:fillRect/>
          </a:stretch>
        </p:blipFill>
        <p:spPr>
          <a:xfrm>
            <a:off x="5547871" y="7378"/>
            <a:ext cx="6252677" cy="6857575"/>
          </a:xfrm>
          <a:prstGeom prst="rect">
            <a:avLst/>
          </a:prstGeom>
        </p:spPr>
      </p:pic>
      <p:sp>
        <p:nvSpPr>
          <p:cNvPr id="16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1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AF9319C-2D9B-4868-AEAE-37298EA0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4A8CDB-40E9-148C-19E5-E8905A074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128811"/>
            <a:ext cx="3447288" cy="33422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Types of Prediction in AI</a:t>
            </a:r>
          </a:p>
        </p:txBody>
      </p:sp>
      <p:pic>
        <p:nvPicPr>
          <p:cNvPr id="3" name="Picture 2" descr="A screen shot of a thermometer&#10;&#10;AI-generated content may be incorrect.">
            <a:extLst>
              <a:ext uri="{FF2B5EF4-FFF2-40B4-BE49-F238E27FC236}">
                <a16:creationId xmlns:a16="http://schemas.microsoft.com/office/drawing/2014/main" id="{C82A9C93-2AD2-F7ED-905F-4AF07BBE0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085" y="-7000"/>
            <a:ext cx="6686928" cy="6871953"/>
          </a:xfrm>
          <a:prstGeom prst="rect">
            <a:avLst/>
          </a:prstGeom>
        </p:spPr>
      </p:pic>
      <p:sp>
        <p:nvSpPr>
          <p:cNvPr id="22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19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28C02-FC04-9AB9-2CBC-00DDACF14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7182" y="893935"/>
            <a:ext cx="3756670" cy="33393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/>
              <a:t>Three Levels of AI</a:t>
            </a:r>
          </a:p>
        </p:txBody>
      </p:sp>
      <p:pic>
        <p:nvPicPr>
          <p:cNvPr id="3" name="Picture 2" descr="A person standing on stairs&#10;&#10;AI-generated content may be incorrect.">
            <a:extLst>
              <a:ext uri="{FF2B5EF4-FFF2-40B4-BE49-F238E27FC236}">
                <a16:creationId xmlns:a16="http://schemas.microsoft.com/office/drawing/2014/main" id="{6DD0AC11-0650-6311-EF1B-A75F4C76BF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65" r="1" b="2238"/>
          <a:stretch>
            <a:fillRect/>
          </a:stretch>
        </p:blipFill>
        <p:spPr>
          <a:xfrm>
            <a:off x="20" y="10"/>
            <a:ext cx="7289434" cy="6857990"/>
          </a:xfrm>
          <a:prstGeom prst="rect">
            <a:avLst/>
          </a:prstGeom>
        </p:spPr>
      </p:pic>
      <p:sp>
        <p:nvSpPr>
          <p:cNvPr id="9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24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4EEB-EE5A-D93F-7070-F74BD9A69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7" y="-3048"/>
            <a:ext cx="12198956" cy="786730"/>
          </a:xfrm>
        </p:spPr>
        <p:txBody>
          <a:bodyPr>
            <a:normAutofit/>
          </a:bodyPr>
          <a:lstStyle/>
          <a:p>
            <a:pPr algn="ctr"/>
            <a:r>
              <a:rPr lang="en-US" sz="4400" b="1" i="0" dirty="0">
                <a:latin typeface="Times New Roman"/>
                <a:ea typeface="+mj-lt"/>
                <a:cs typeface="+mj-lt"/>
              </a:rPr>
              <a:t>Artificial Intelligence Based on Functionality</a:t>
            </a:r>
            <a:endParaRPr lang="en-US" sz="4400" b="1">
              <a:latin typeface="Times New Roman"/>
              <a:cs typeface="Times New Roman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C5060F-45B4-1ED9-CF80-36424D398B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54" r="-118" b="-219"/>
          <a:stretch>
            <a:fillRect/>
          </a:stretch>
        </p:blipFill>
        <p:spPr>
          <a:xfrm>
            <a:off x="0" y="1081066"/>
            <a:ext cx="12206398" cy="564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47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CA1D7-71D3-039D-5BA0-2BC3D3AE2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-3048"/>
            <a:ext cx="12198958" cy="1103031"/>
          </a:xfrm>
        </p:spPr>
        <p:txBody>
          <a:bodyPr/>
          <a:lstStyle/>
          <a:p>
            <a:pPr algn="ctr"/>
            <a:r>
              <a:rPr lang="en-US" b="1" i="0" dirty="0">
                <a:latin typeface="Times New Roman"/>
                <a:ea typeface="+mj-lt"/>
                <a:cs typeface="+mj-lt"/>
              </a:rPr>
              <a:t>AI vs Augmented Intelligence</a:t>
            </a:r>
            <a:endParaRPr lang="en-US" b="1">
              <a:latin typeface="Times New Roman"/>
              <a:cs typeface="Times New Roman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A73B49-B4BA-36F8-5D9A-4328A89728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76" r="184" b="-210"/>
          <a:stretch>
            <a:fillRect/>
          </a:stretch>
        </p:blipFill>
        <p:spPr>
          <a:xfrm>
            <a:off x="327297" y="963283"/>
            <a:ext cx="11868104" cy="589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453846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HeadlinesVTI</vt:lpstr>
      <vt:lpstr>ARTIFICIAL INTELLIGENCE (AI)</vt:lpstr>
      <vt:lpstr>PowerPoint Presentation</vt:lpstr>
      <vt:lpstr>How does AI work? </vt:lpstr>
      <vt:lpstr>PowerPoint Presentation</vt:lpstr>
      <vt:lpstr>PowerPoint Presentation</vt:lpstr>
      <vt:lpstr>Deterministic System vs Probabilistic System</vt:lpstr>
      <vt:lpstr>Types of Prediction in AI</vt:lpstr>
      <vt:lpstr>Three Levels of AI</vt:lpstr>
      <vt:lpstr>Artificial Intelligence Based on Functionality</vt:lpstr>
      <vt:lpstr>AI vs Augmented Intelligence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253</cp:revision>
  <dcterms:created xsi:type="dcterms:W3CDTF">2025-09-10T06:26:27Z</dcterms:created>
  <dcterms:modified xsi:type="dcterms:W3CDTF">2025-12-02T02:31:13Z</dcterms:modified>
</cp:coreProperties>
</file>